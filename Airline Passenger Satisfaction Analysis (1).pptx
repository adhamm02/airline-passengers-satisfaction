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Lato" panose="020F0502020204030203" pitchFamily="34" charset="0"/>
      <p:regular r:id="rId16"/>
      <p:bold r:id="rId17"/>
      <p:italic r:id="rId18"/>
      <p:boldItalic r:id="rId19"/>
    </p:embeddedFont>
    <p:embeddedFont>
      <p:font typeface="Poppins" panose="00000500000000000000" pitchFamily="2" charset="0"/>
      <p:regular r:id="rId20"/>
      <p:bold r:id="rId21"/>
      <p:italic r:id="rId22"/>
      <p:boldItalic r:id="rId23"/>
    </p:embeddedFont>
    <p:embeddedFont>
      <p:font typeface="Poppins SemiBold" panose="00000700000000000000" pitchFamily="2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01D44CD-E4BF-4889-9151-6B6F8012EFB7}">
  <a:tblStyle styleId="{501D44CD-E4BF-4889-9151-6B6F8012EFB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1032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3500" y="4413795"/>
            <a:ext cx="9525000" cy="68758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333500" y="1613594"/>
            <a:ext cx="95250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OCTOBER 6 UNIVERSITY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095375" y="2013644"/>
            <a:ext cx="10001250" cy="146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Airline Passenger </a:t>
            </a:r>
            <a:r>
              <a:rPr lang="en-US" sz="48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Satisfaction</a:t>
            </a:r>
            <a:r>
              <a:rPr lang="en-US" sz="48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Predictive Modeling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333500" y="3667125"/>
            <a:ext cx="9525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Faculty of Computer Science and Info. Systems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333500" y="4613820"/>
            <a:ext cx="95250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Team:</a:t>
            </a:r>
            <a:r>
              <a:rPr lang="en-US" sz="12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Youssef Hassan, Adham Mohamed, Mohamed Essam, Mohamed Wessam, Hazem Mohamed, Ahmed Nasser, Nora Ahmed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Supervisors:</a:t>
            </a:r>
            <a:r>
              <a:rPr lang="en-US" sz="12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Dr. Nagwa Yassin, Eng. Hend Maher, Eng. Doaa Ali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571500" y="1985962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The airline industry is highly competitive, where satisfaction drives brand loyalty and revenue.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857250" y="2738437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Objective: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Build a binary classification pipeline to predict passenger satisfaction (satisfied vs. neutral/dissatisfied).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857250" y="3538537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Proactive Action: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Predicting dissatisfaction early allows airlines to proactively address complaints.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857250" y="4338637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Operational Insight: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Identifying key service dimensions enables targeted improvements.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57250" y="5138737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Deployment: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Instantly evaluate new passenger profiles via a Streamlit web interface.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Problem Definition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" name="Google Shape;10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76537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576637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376737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176837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87A8FD5-A156-9FD7-87A5-CAA255ACDFF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3206" r="23676"/>
          <a:stretch>
            <a:fillRect/>
          </a:stretch>
        </p:blipFill>
        <p:spPr>
          <a:xfrm>
            <a:off x="6429375" y="1337991"/>
            <a:ext cx="5561311" cy="478209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24062"/>
            <a:ext cx="3429000" cy="387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1500" y="2024062"/>
            <a:ext cx="3429000" cy="387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91500" y="2024062"/>
            <a:ext cx="3429000" cy="387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09750" y="2414587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1240869" y="3605212"/>
            <a:ext cx="209026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Profile &amp; Clean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866775" y="4148137"/>
            <a:ext cx="28384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Process raw airline survey data, handle missing values, and ensure structural integrity before modeling.</a:t>
            </a:r>
            <a:endParaRPr/>
          </a:p>
        </p:txBody>
      </p:sp>
      <p:pic>
        <p:nvPicPr>
          <p:cNvPr id="119" name="Google Shape;119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619750" y="2414587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4985861" y="3605212"/>
            <a:ext cx="222027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Analyze &amp; Train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4676775" y="4148137"/>
            <a:ext cx="28384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Conduct EDA to surface patterns, engineer features, and train ANN, Random Forest, and XGBoost models.</a:t>
            </a:r>
            <a:endParaRPr/>
          </a:p>
        </p:txBody>
      </p:sp>
      <p:pic>
        <p:nvPicPr>
          <p:cNvPr id="122" name="Google Shape;122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429750" y="2414587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8605837" y="3605212"/>
            <a:ext cx="260032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Evaluate &amp; Deploy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8486775" y="4148137"/>
            <a:ext cx="28384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Select the best-performing model based on test metrics and deploy via an interactive Streamlit web application.</a:t>
            </a:r>
            <a:endParaRPr/>
          </a:p>
        </p:txBody>
      </p:sp>
      <p:pic>
        <p:nvPicPr>
          <p:cNvPr id="125" name="Google Shape;125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985962" y="2624137"/>
            <a:ext cx="600075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829300" y="2624137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639300" y="2624137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5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Goals &amp; Objectives</a:t>
            </a:r>
            <a:endParaRPr/>
          </a:p>
        </p:txBody>
      </p:sp>
      <p:sp>
        <p:nvSpPr>
          <p:cNvPr id="129" name="Google Shape;129;p15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814387"/>
            <a:ext cx="11049000" cy="487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61974" y="623888"/>
            <a:ext cx="11049000" cy="6296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7" name="Google Shape;137;p16"/>
          <p:cNvGraphicFramePr/>
          <p:nvPr>
            <p:extLst>
              <p:ext uri="{D42A27DB-BD31-4B8C-83A1-F6EECF244321}">
                <p14:modId xmlns:p14="http://schemas.microsoft.com/office/powerpoint/2010/main" val="3979260370"/>
              </p:ext>
            </p:extLst>
          </p:nvPr>
        </p:nvGraphicFramePr>
        <p:xfrm>
          <a:off x="581025" y="823912"/>
          <a:ext cx="11029950" cy="4857825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658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71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3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 dirty="0">
                          <a:solidFill>
                            <a:schemeClr val="bg1"/>
                          </a:solidFill>
                          <a:sym typeface="Poppins"/>
                        </a:rPr>
                        <a:t>Attribute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 dirty="0">
                          <a:solidFill>
                            <a:schemeClr val="bg1"/>
                          </a:solidFill>
                          <a:sym typeface="Poppins"/>
                        </a:rPr>
                        <a:t>Details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3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 dirty="0">
                          <a:solidFill>
                            <a:schemeClr val="tx1"/>
                          </a:solidFill>
                          <a:sym typeface="Lato"/>
                        </a:rPr>
                        <a:t>Source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 dirty="0">
                          <a:solidFill>
                            <a:schemeClr val="tx1"/>
                          </a:solidFill>
                          <a:sym typeface="Lato"/>
                        </a:rPr>
                        <a:t>Airline Passenger Satisfaction Survey (Kaggle)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3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>
                          <a:solidFill>
                            <a:schemeClr val="tx1"/>
                          </a:solidFill>
                          <a:sym typeface="Lato"/>
                        </a:rPr>
                        <a:t>Target Variable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 dirty="0">
                          <a:solidFill>
                            <a:schemeClr val="tx1"/>
                          </a:solidFill>
                          <a:sym typeface="Lato"/>
                        </a:rPr>
                        <a:t>satisfaction (binary: satisfied / neutral or dissatisfied)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3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>
                          <a:solidFill>
                            <a:schemeClr val="tx1"/>
                          </a:solidFill>
                          <a:sym typeface="Lato"/>
                        </a:rPr>
                        <a:t>Total Features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 dirty="0">
                          <a:solidFill>
                            <a:schemeClr val="tx1"/>
                          </a:solidFill>
                          <a:sym typeface="Lato"/>
                        </a:rPr>
                        <a:t>22 features after preprocessing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3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>
                          <a:solidFill>
                            <a:schemeClr val="tx1"/>
                          </a:solidFill>
                          <a:sym typeface="Lato"/>
                        </a:rPr>
                        <a:t>Feature Types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 dirty="0">
                          <a:solidFill>
                            <a:schemeClr val="tx1"/>
                          </a:solidFill>
                          <a:sym typeface="Lato"/>
                        </a:rPr>
                        <a:t>Demographic, operational, and ordinal service ratings (0-5 scale)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3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>
                          <a:solidFill>
                            <a:schemeClr val="tx1"/>
                          </a:solidFill>
                          <a:sym typeface="Lato"/>
                        </a:rPr>
                        <a:t>Missing Values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 dirty="0">
                          <a:solidFill>
                            <a:schemeClr val="tx1"/>
                          </a:solidFill>
                          <a:sym typeface="Lato"/>
                        </a:rPr>
                        <a:t>Sparse (&lt; 0.3% rows); resolved by listwise deletion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3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>
                          <a:solidFill>
                            <a:schemeClr val="tx1"/>
                          </a:solidFill>
                          <a:sym typeface="Lato"/>
                        </a:rPr>
                        <a:t>Duplicates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 dirty="0">
                          <a:solidFill>
                            <a:schemeClr val="tx1"/>
                          </a:solidFill>
                          <a:sym typeface="Lato"/>
                        </a:rPr>
                        <a:t>Zero confirmed after deduplication check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8" name="Google Shape;138;p16"/>
          <p:cNvSpPr/>
          <p:nvPr/>
        </p:nvSpPr>
        <p:spPr>
          <a:xfrm>
            <a:off x="581025" y="1504950"/>
            <a:ext cx="265807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3239095" y="1504950"/>
            <a:ext cx="837187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581025" y="2200275"/>
            <a:ext cx="265807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3239095" y="2200275"/>
            <a:ext cx="837187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81025" y="2895600"/>
            <a:ext cx="265807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3239095" y="2895600"/>
            <a:ext cx="837187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581025" y="3590925"/>
            <a:ext cx="265807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3239095" y="3590925"/>
            <a:ext cx="837187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581025" y="4286250"/>
            <a:ext cx="265807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3239095" y="4286250"/>
            <a:ext cx="837187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581025" y="4981575"/>
            <a:ext cx="265807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3239095" y="4981575"/>
            <a:ext cx="837187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 txBox="1"/>
          <p:nvPr/>
        </p:nvSpPr>
        <p:spPr>
          <a:xfrm>
            <a:off x="571500" y="33338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 dirty="0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Dataset Overview</a:t>
            </a:r>
            <a:endParaRPr dirty="0"/>
          </a:p>
        </p:txBody>
      </p:sp>
      <p:sp>
        <p:nvSpPr>
          <p:cNvPr id="151" name="Google Shape;151;p16"/>
          <p:cNvSpPr/>
          <p:nvPr/>
        </p:nvSpPr>
        <p:spPr>
          <a:xfrm>
            <a:off x="571500" y="604838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343400"/>
            <a:ext cx="2541240" cy="1540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07419" y="2040433"/>
            <a:ext cx="2541240" cy="1540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43339" y="4343400"/>
            <a:ext cx="2541240" cy="1855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79259" y="1726108"/>
            <a:ext cx="2541240" cy="185529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7"/>
          <p:cNvSpPr/>
          <p:nvPr/>
        </p:nvSpPr>
        <p:spPr>
          <a:xfrm>
            <a:off x="571500" y="3943350"/>
            <a:ext cx="110490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 txBox="1"/>
          <p:nvPr/>
        </p:nvSpPr>
        <p:spPr>
          <a:xfrm>
            <a:off x="717995" y="4543425"/>
            <a:ext cx="2248249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Quality Checks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771525" y="4953000"/>
            <a:ext cx="214119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Verified missing values, dropped duplicates, and validated data types (float32 casting).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3553915" y="2240458"/>
            <a:ext cx="2248249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Outlier Removal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3607444" y="2650033"/>
            <a:ext cx="214119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Applied Interquartile Range (IQR) method to clip extreme delays and distance values.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6389835" y="4543425"/>
            <a:ext cx="2248249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3. Feature Encoding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6443364" y="5267325"/>
            <a:ext cx="214119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LabelEncoder for categorical features; mapping saved as dicts for Streamlit inference.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9225755" y="1926133"/>
            <a:ext cx="2248249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4. Splitting &amp; Scaling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9279284" y="2650033"/>
            <a:ext cx="214119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Stratified Split (70 Train / 10 Val / 20 Test) and StandardScaler fit exclusively on training data.</a:t>
            </a:r>
            <a:endParaRPr/>
          </a:p>
        </p:txBody>
      </p:sp>
      <p:sp>
        <p:nvSpPr>
          <p:cNvPr id="170" name="Google Shape;170;p17"/>
          <p:cNvSpPr/>
          <p:nvPr/>
        </p:nvSpPr>
        <p:spPr>
          <a:xfrm>
            <a:off x="1727820" y="38481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4563740" y="38481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7399659" y="38481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/>
          <p:nvPr/>
        </p:nvSpPr>
        <p:spPr>
          <a:xfrm>
            <a:off x="10235579" y="38481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7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Methodology Pipeline</a:t>
            </a:r>
            <a:endParaRPr/>
          </a:p>
        </p:txBody>
      </p:sp>
      <p:sp>
        <p:nvSpPr>
          <p:cNvPr id="175" name="Google Shape;175;p17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571500" y="571500"/>
            <a:ext cx="5550693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System Design</a:t>
            </a:r>
            <a:endParaRPr/>
          </a:p>
        </p:txBody>
      </p:sp>
      <p:sp>
        <p:nvSpPr>
          <p:cNvPr id="182" name="Google Shape;182;p18"/>
          <p:cNvSpPr/>
          <p:nvPr/>
        </p:nvSpPr>
        <p:spPr>
          <a:xfrm>
            <a:off x="571500" y="1238250"/>
            <a:ext cx="5286375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8"/>
          <p:cNvSpPr txBox="1"/>
          <p:nvPr/>
        </p:nvSpPr>
        <p:spPr>
          <a:xfrm>
            <a:off x="571500" y="2023169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Offline Training &amp; Online Inference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571500" y="2566094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The system couples a reproducible Jupyter Notebook training pipeline with a real-time Streamlit web app.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571500" y="3318569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Exported Artifacts for Deployment: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571500" y="5080694"/>
            <a:ext cx="528637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* Note: Use this layout to showcase Figure 1 or 2 (Prediction Interface/Input Panel) from the report.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647700" y="3918644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762000" y="3918644"/>
            <a:ext cx="509587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best_model.pkl (Winning estimator)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647700" y="4242494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762000" y="4242494"/>
            <a:ext cx="509587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input_scaler.pkl (Feature normalization)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647700" y="4566344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762000" y="4566344"/>
            <a:ext cx="509587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class_encoder.pkl (Label mappings)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982A69-1876-0D91-F7C0-E8651C51EE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6492" y="937088"/>
            <a:ext cx="5955507" cy="458405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347787"/>
            <a:ext cx="11049000" cy="522922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/>
          <p:nvPr/>
        </p:nvSpPr>
        <p:spPr>
          <a:xfrm>
            <a:off x="571500" y="5443537"/>
            <a:ext cx="11049000" cy="9906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/>
          <p:cNvSpPr txBox="1"/>
          <p:nvPr/>
        </p:nvSpPr>
        <p:spPr>
          <a:xfrm>
            <a:off x="762000" y="5634037"/>
            <a:ext cx="10668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The target variable is moderately balanced. This balance means overall accuracy is a highly reliable primary metric, complemented by macro-F1 to confirm per-class performance.</a:t>
            </a:r>
            <a:endParaRPr/>
          </a:p>
        </p:txBody>
      </p:sp>
      <p:sp>
        <p:nvSpPr>
          <p:cNvPr id="202" name="Google Shape;202;p19"/>
          <p:cNvSpPr/>
          <p:nvPr/>
        </p:nvSpPr>
        <p:spPr>
          <a:xfrm>
            <a:off x="571500" y="5443537"/>
            <a:ext cx="38100" cy="9906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/>
          <p:cNvSpPr txBox="1"/>
          <p:nvPr/>
        </p:nvSpPr>
        <p:spPr>
          <a:xfrm>
            <a:off x="571500" y="280987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EDA: Class Distribution</a:t>
            </a:r>
            <a:endParaRPr/>
          </a:p>
        </p:txBody>
      </p:sp>
      <p:sp>
        <p:nvSpPr>
          <p:cNvPr id="204" name="Google Shape;204;p19"/>
          <p:cNvSpPr/>
          <p:nvPr/>
        </p:nvSpPr>
        <p:spPr>
          <a:xfrm>
            <a:off x="571500" y="947737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76425"/>
            <a:ext cx="5286375" cy="343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876425"/>
            <a:ext cx="5286375" cy="343852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0"/>
          <p:cNvSpPr txBox="1"/>
          <p:nvPr/>
        </p:nvSpPr>
        <p:spPr>
          <a:xfrm>
            <a:off x="1747837" y="5600700"/>
            <a:ext cx="8696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* Note: Figure 4, 5 (Categorical) or Figure 8 (Correlation Heatmap) can be discussed alongside these points.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962025" y="2266950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Categorical Segments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962025" y="2809875"/>
            <a:ext cx="45053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Class &amp; Travel Type: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Business class passengers and Business travelers exhibit markedly higher satisfaction rates compared to Economy or Personal travelers.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962025" y="3867150"/>
            <a:ext cx="45053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Loyalty: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Loyal customers show higher satisfaction, likely reflecting selection bias toward passengers who prefer the airline.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6724650" y="2266950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Numeric Correlations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6724650" y="2809875"/>
            <a:ext cx="45053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Delays: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Departure Delay and Arrival Delay are strongly correlated (r &gt; 0.9), as expected operationally.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6724650" y="3562350"/>
            <a:ext cx="450532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Service Dimensions: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Strong positive correlations exist among service ratings (e.g., Seat Comfort &amp; Cleanliness), showing interrelated passenger perceptions.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Key Exploratory Insights</a:t>
            </a:r>
            <a:endParaRPr/>
          </a:p>
        </p:txBody>
      </p:sp>
      <p:sp>
        <p:nvSpPr>
          <p:cNvPr id="220" name="Google Shape;220;p20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908744"/>
            <a:ext cx="11049000" cy="610731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1"/>
          <p:cNvSpPr/>
          <p:nvPr/>
        </p:nvSpPr>
        <p:spPr>
          <a:xfrm>
            <a:off x="571500" y="5882580"/>
            <a:ext cx="11049000" cy="9906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762000" y="6073080"/>
            <a:ext cx="10668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Training up to 50 epochs with EarlyStopping (patience=5). The curve demonstrates rapid learning in early epochs before stabilizing &gt;95%, preventing overfitting on the validation set.</a:t>
            </a:r>
            <a:endParaRPr/>
          </a:p>
        </p:txBody>
      </p:sp>
      <p:sp>
        <p:nvSpPr>
          <p:cNvPr id="229" name="Google Shape;229;p21"/>
          <p:cNvSpPr/>
          <p:nvPr/>
        </p:nvSpPr>
        <p:spPr>
          <a:xfrm>
            <a:off x="571500" y="5882580"/>
            <a:ext cx="38100" cy="9906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528470" y="10758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 dirty="0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ANN Training History (Accuracy)</a:t>
            </a:r>
            <a:endParaRPr dirty="0"/>
          </a:p>
        </p:txBody>
      </p:sp>
      <p:sp>
        <p:nvSpPr>
          <p:cNvPr id="231" name="Google Shape;231;p21"/>
          <p:cNvSpPr/>
          <p:nvPr/>
        </p:nvSpPr>
        <p:spPr>
          <a:xfrm>
            <a:off x="571500" y="508694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38300"/>
            <a:ext cx="11049000" cy="4648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2"/>
          <p:cNvSpPr/>
          <p:nvPr/>
        </p:nvSpPr>
        <p:spPr>
          <a:xfrm>
            <a:off x="571500" y="4848225"/>
            <a:ext cx="11049000" cy="9906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2"/>
          <p:cNvSpPr txBox="1"/>
          <p:nvPr/>
        </p:nvSpPr>
        <p:spPr>
          <a:xfrm>
            <a:off x="762000" y="5038725"/>
            <a:ext cx="10668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XGBoost achieved the highest accuracy. The near-parity (&lt; 0.5% margin) suggests the dataset is highly informative and well-suited for both deep learning and tree ensembles. Macro F1 scores consistently hovered around 0.96.</a:t>
            </a:r>
            <a:endParaRPr/>
          </a:p>
        </p:txBody>
      </p:sp>
      <p:sp>
        <p:nvSpPr>
          <p:cNvPr id="240" name="Google Shape;240;p22"/>
          <p:cNvSpPr/>
          <p:nvPr/>
        </p:nvSpPr>
        <p:spPr>
          <a:xfrm>
            <a:off x="571500" y="4848225"/>
            <a:ext cx="38100" cy="9906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2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Model Comparison: Test Accuracy</a:t>
            </a:r>
            <a:endParaRPr/>
          </a:p>
        </p:txBody>
      </p:sp>
      <p:sp>
        <p:nvSpPr>
          <p:cNvPr id="242" name="Google Shape;242;p22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3"/>
          <p:cNvSpPr/>
          <p:nvPr/>
        </p:nvSpPr>
        <p:spPr>
          <a:xfrm>
            <a:off x="1333500" y="1259383"/>
            <a:ext cx="9525000" cy="1611510"/>
          </a:xfrm>
          <a:prstGeom prst="roundRect">
            <a:avLst>
              <a:gd name="adj" fmla="val 7092"/>
            </a:avLst>
          </a:prstGeom>
          <a:solidFill>
            <a:srgbClr val="1E293B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3"/>
          <p:cNvSpPr txBox="1"/>
          <p:nvPr/>
        </p:nvSpPr>
        <p:spPr>
          <a:xfrm>
            <a:off x="2095500" y="1545133"/>
            <a:ext cx="8477250" cy="1040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 Model Tuning &amp; Calibration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Apply Platt scaling for better confidence scoring. Use Optuna or Bayesian optimization to systematically search hyperparameter spaces for ANN and XGBoost.</a:t>
            </a:r>
            <a:endParaRPr/>
          </a:p>
        </p:txBody>
      </p:sp>
      <p:sp>
        <p:nvSpPr>
          <p:cNvPr id="250" name="Google Shape;250;p23"/>
          <p:cNvSpPr/>
          <p:nvPr/>
        </p:nvSpPr>
        <p:spPr>
          <a:xfrm>
            <a:off x="1333500" y="3156644"/>
            <a:ext cx="9525000" cy="1611510"/>
          </a:xfrm>
          <a:prstGeom prst="roundRect">
            <a:avLst>
              <a:gd name="adj" fmla="val 7092"/>
            </a:avLst>
          </a:prstGeom>
          <a:solidFill>
            <a:srgbClr val="1E293B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3"/>
          <p:cNvSpPr txBox="1"/>
          <p:nvPr/>
        </p:nvSpPr>
        <p:spPr>
          <a:xfrm>
            <a:off x="2095500" y="3442394"/>
            <a:ext cx="8477250" cy="1040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 Explainability (SHAP)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Compute SHAP values for tree models to explain individual predictions and identify the absolute top service drivers of dissatisfaction.</a:t>
            </a:r>
            <a:endParaRPr/>
          </a:p>
        </p:txBody>
      </p:sp>
      <p:sp>
        <p:nvSpPr>
          <p:cNvPr id="252" name="Google Shape;252;p23"/>
          <p:cNvSpPr/>
          <p:nvPr/>
        </p:nvSpPr>
        <p:spPr>
          <a:xfrm>
            <a:off x="1333500" y="5053905"/>
            <a:ext cx="9525000" cy="1611510"/>
          </a:xfrm>
          <a:prstGeom prst="roundRect">
            <a:avLst>
              <a:gd name="adj" fmla="val 7092"/>
            </a:avLst>
          </a:prstGeom>
          <a:solidFill>
            <a:srgbClr val="1E293B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3"/>
          <p:cNvSpPr txBox="1"/>
          <p:nvPr/>
        </p:nvSpPr>
        <p:spPr>
          <a:xfrm>
            <a:off x="2095500" y="5339655"/>
            <a:ext cx="8477250" cy="1040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 Feature Engineering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Construct interaction terms (e.g., Class x Wi-Fi) and aggregate satisfaction by route or aircraft type to surface specific operational patterns.</a:t>
            </a:r>
            <a:endParaRPr/>
          </a:p>
        </p:txBody>
      </p:sp>
      <p:sp>
        <p:nvSpPr>
          <p:cNvPr id="254" name="Google Shape;254;p23"/>
          <p:cNvSpPr/>
          <p:nvPr/>
        </p:nvSpPr>
        <p:spPr>
          <a:xfrm>
            <a:off x="1333500" y="2861369"/>
            <a:ext cx="95250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3"/>
          <p:cNvSpPr/>
          <p:nvPr/>
        </p:nvSpPr>
        <p:spPr>
          <a:xfrm>
            <a:off x="1333500" y="4758630"/>
            <a:ext cx="95250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3"/>
          <p:cNvSpPr/>
          <p:nvPr/>
        </p:nvSpPr>
        <p:spPr>
          <a:xfrm>
            <a:off x="1333500" y="6655891"/>
            <a:ext cx="95250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7" name="Google Shape;257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81150" y="1912739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81150" y="381000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81150" y="5707260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3"/>
          <p:cNvSpPr txBox="1"/>
          <p:nvPr/>
        </p:nvSpPr>
        <p:spPr>
          <a:xfrm>
            <a:off x="571500" y="192583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Future Improvements</a:t>
            </a:r>
            <a:endParaRPr/>
          </a:p>
        </p:txBody>
      </p:sp>
      <p:sp>
        <p:nvSpPr>
          <p:cNvPr id="261" name="Google Shape;261;p23"/>
          <p:cNvSpPr/>
          <p:nvPr/>
        </p:nvSpPr>
        <p:spPr>
          <a:xfrm>
            <a:off x="571500" y="859333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7525" y="3721298"/>
            <a:ext cx="6076950" cy="173355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4"/>
          <p:cNvSpPr txBox="1"/>
          <p:nvPr/>
        </p:nvSpPr>
        <p:spPr>
          <a:xfrm>
            <a:off x="295275" y="1403002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/>
          </a:p>
        </p:txBody>
      </p:sp>
      <p:sp>
        <p:nvSpPr>
          <p:cNvPr id="269" name="Google Shape;269;p24"/>
          <p:cNvSpPr txBox="1"/>
          <p:nvPr/>
        </p:nvSpPr>
        <p:spPr>
          <a:xfrm>
            <a:off x="571500" y="2736502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Thank you for your attention.</a:t>
            </a:r>
            <a:endParaRPr/>
          </a:p>
        </p:txBody>
      </p:sp>
      <p:sp>
        <p:nvSpPr>
          <p:cNvPr id="270" name="Google Shape;270;p24"/>
          <p:cNvSpPr txBox="1"/>
          <p:nvPr/>
        </p:nvSpPr>
        <p:spPr>
          <a:xfrm>
            <a:off x="3352800" y="4016573"/>
            <a:ext cx="13620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Team Members:</a:t>
            </a:r>
            <a:endParaRPr/>
          </a:p>
        </p:txBody>
      </p:sp>
      <p:sp>
        <p:nvSpPr>
          <p:cNvPr id="271" name="Google Shape;271;p24"/>
          <p:cNvSpPr txBox="1"/>
          <p:nvPr/>
        </p:nvSpPr>
        <p:spPr>
          <a:xfrm>
            <a:off x="3352800" y="4930973"/>
            <a:ext cx="34099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October 6 University | Faculty of CS &amp; IS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5"/>
          <p:cNvSpPr/>
          <p:nvPr/>
        </p:nvSpPr>
        <p:spPr>
          <a:xfrm>
            <a:off x="2233612" y="3182391"/>
            <a:ext cx="7724775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5"/>
          <p:cNvSpPr/>
          <p:nvPr/>
        </p:nvSpPr>
        <p:spPr>
          <a:xfrm>
            <a:off x="2233612" y="3957637"/>
            <a:ext cx="77247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5"/>
          <p:cNvSpPr/>
          <p:nvPr/>
        </p:nvSpPr>
        <p:spPr>
          <a:xfrm>
            <a:off x="2233612" y="3957637"/>
            <a:ext cx="77247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0" name="Google Shape;280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33612" y="333181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5"/>
          <p:cNvSpPr txBox="1"/>
          <p:nvPr/>
        </p:nvSpPr>
        <p:spPr>
          <a:xfrm>
            <a:off x="3328987" y="3325266"/>
            <a:ext cx="6629400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https://framerusercontent.com/images/schDoamnA5b6R8z6M8CaosoO4sk.jpg?width=2508&amp;height=1672</a:t>
            </a:r>
            <a:endParaRPr/>
          </a:p>
        </p:txBody>
      </p:sp>
      <p:sp>
        <p:nvSpPr>
          <p:cNvPr id="282" name="Google Shape;282;p25"/>
          <p:cNvSpPr txBox="1"/>
          <p:nvPr/>
        </p:nvSpPr>
        <p:spPr>
          <a:xfrm>
            <a:off x="3328987" y="3570982"/>
            <a:ext cx="66294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mavenanalytics.io</a:t>
            </a:r>
            <a:endParaRPr/>
          </a:p>
        </p:txBody>
      </p:sp>
      <p:pic>
        <p:nvPicPr>
          <p:cNvPr id="283" name="Google Shape;283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33612" y="411658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5"/>
          <p:cNvSpPr txBox="1"/>
          <p:nvPr/>
        </p:nvSpPr>
        <p:spPr>
          <a:xfrm>
            <a:off x="3328987" y="4110037"/>
            <a:ext cx="6629400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https://datalend.com/wp-content/uploads/2023/10/Data-Analytics-%E2%80%93-DataLends-New-User-Interface-4.png</a:t>
            </a:r>
            <a:endParaRPr/>
          </a:p>
        </p:txBody>
      </p:sp>
      <p:sp>
        <p:nvSpPr>
          <p:cNvPr id="285" name="Google Shape;285;p25"/>
          <p:cNvSpPr txBox="1"/>
          <p:nvPr/>
        </p:nvSpPr>
        <p:spPr>
          <a:xfrm>
            <a:off x="3328987" y="4355752"/>
            <a:ext cx="66294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datalend.com</a:t>
            </a:r>
            <a:endParaRPr/>
          </a:p>
        </p:txBody>
      </p:sp>
      <p:sp>
        <p:nvSpPr>
          <p:cNvPr id="286" name="Google Shape;286;p25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Image Sources</a:t>
            </a:r>
            <a:endParaRPr/>
          </a:p>
        </p:txBody>
      </p:sp>
      <p:sp>
        <p:nvSpPr>
          <p:cNvPr id="287" name="Google Shape;287;p25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799</Words>
  <Application>Microsoft Office PowerPoint</Application>
  <PresentationFormat>Widescreen</PresentationFormat>
  <Paragraphs>79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Poppins SemiBold</vt:lpstr>
      <vt:lpstr>Calibri</vt:lpstr>
      <vt:lpstr>Poppins</vt:lpstr>
      <vt:lpstr>Lato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Adham</dc:creator>
  <cp:lastModifiedBy>adham mohamed</cp:lastModifiedBy>
  <cp:revision>1</cp:revision>
  <dcterms:modified xsi:type="dcterms:W3CDTF">2026-05-11T07:36:26Z</dcterms:modified>
</cp:coreProperties>
</file>